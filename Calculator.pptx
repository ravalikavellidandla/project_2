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5" r:id="rId1"/>
  </p:sldMasterIdLst>
  <p:notesMasterIdLst>
    <p:notesMasterId r:id="rId10"/>
  </p:notesMasterIdLst>
  <p:sldIdLst>
    <p:sldId id="272" r:id="rId2"/>
    <p:sldId id="273" r:id="rId3"/>
    <p:sldId id="276" r:id="rId4"/>
    <p:sldId id="277" r:id="rId5"/>
    <p:sldId id="278" r:id="rId6"/>
    <p:sldId id="282" r:id="rId7"/>
    <p:sldId id="279" r:id="rId8"/>
    <p:sldId id="28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9FDDC-02F2-4451-A0D2-BE0029233B70}" type="datetimeFigureOut">
              <a:rPr lang="en-AU" smtClean="0"/>
              <a:t>25/06/2026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91AF3B-D5E8-4F31-88E2-C096D4D034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5335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441BF-A294-4CCC-856A-30233B1C2403}" type="datetimeFigureOut">
              <a:rPr lang="en-AU" smtClean="0"/>
              <a:t>25/06/2026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8EED9-E295-4398-BE8D-7BA9E22CF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1745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441BF-A294-4CCC-856A-30233B1C2403}" type="datetimeFigureOut">
              <a:rPr lang="en-AU" smtClean="0"/>
              <a:t>25/06/2026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E88EED9-E295-4398-BE8D-7BA9E22CF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6981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441BF-A294-4CCC-856A-30233B1C2403}" type="datetimeFigureOut">
              <a:rPr lang="en-AU" smtClean="0"/>
              <a:t>25/06/2026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8EED9-E295-4398-BE8D-7BA9E22CF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268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441BF-A294-4CCC-856A-30233B1C2403}" type="datetimeFigureOut">
              <a:rPr lang="en-AU" smtClean="0"/>
              <a:t>25/06/2026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8EED9-E295-4398-BE8D-7BA9E22CF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5014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441BF-A294-4CCC-856A-30233B1C2403}" type="datetimeFigureOut">
              <a:rPr lang="en-AU" smtClean="0"/>
              <a:t>25/06/2026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8EED9-E295-4398-BE8D-7BA9E22CF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3608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441BF-A294-4CCC-856A-30233B1C2403}" type="datetimeFigureOut">
              <a:rPr lang="en-AU" smtClean="0"/>
              <a:t>25/06/2026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8EED9-E295-4398-BE8D-7BA9E22CF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1321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441BF-A294-4CCC-856A-30233B1C2403}" type="datetimeFigureOut">
              <a:rPr lang="en-AU" smtClean="0"/>
              <a:t>25/06/2026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8EED9-E295-4398-BE8D-7BA9E22CF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8623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441BF-A294-4CCC-856A-30233B1C2403}" type="datetimeFigureOut">
              <a:rPr lang="en-AU" smtClean="0"/>
              <a:t>25/06/2026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8EED9-E295-4398-BE8D-7BA9E22CF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3136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441BF-A294-4CCC-856A-30233B1C2403}" type="datetimeFigureOut">
              <a:rPr lang="en-AU" smtClean="0"/>
              <a:t>25/06/2026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8EED9-E295-4398-BE8D-7BA9E22CF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4820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441BF-A294-4CCC-856A-30233B1C2403}" type="datetimeFigureOut">
              <a:rPr lang="en-AU" smtClean="0"/>
              <a:t>25/06/2026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8EED9-E295-4398-BE8D-7BA9E22CF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093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441BF-A294-4CCC-856A-30233B1C2403}" type="datetimeFigureOut">
              <a:rPr lang="en-AU" smtClean="0"/>
              <a:t>25/06/2026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8EED9-E295-4398-BE8D-7BA9E22CF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0780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441BF-A294-4CCC-856A-30233B1C2403}" type="datetimeFigureOut">
              <a:rPr lang="en-AU" smtClean="0"/>
              <a:t>25/06/2026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8EED9-E295-4398-BE8D-7BA9E22CF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4104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441BF-A294-4CCC-856A-30233B1C2403}" type="datetimeFigureOut">
              <a:rPr lang="en-AU" smtClean="0"/>
              <a:t>25/06/2026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8EED9-E295-4398-BE8D-7BA9E22CF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4725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441BF-A294-4CCC-856A-30233B1C2403}" type="datetimeFigureOut">
              <a:rPr lang="en-AU" smtClean="0"/>
              <a:t>25/06/2026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8EED9-E295-4398-BE8D-7BA9E22CF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69052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441BF-A294-4CCC-856A-30233B1C2403}" type="datetimeFigureOut">
              <a:rPr lang="en-AU" smtClean="0"/>
              <a:t>25/06/2026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8EED9-E295-4398-BE8D-7BA9E22CF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2651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441BF-A294-4CCC-856A-30233B1C2403}" type="datetimeFigureOut">
              <a:rPr lang="en-AU" smtClean="0"/>
              <a:t>25/06/2026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8EED9-E295-4398-BE8D-7BA9E22CF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09315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441BF-A294-4CCC-856A-30233B1C2403}" type="datetimeFigureOut">
              <a:rPr lang="en-AU" smtClean="0"/>
              <a:t>25/06/2026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8EED9-E295-4398-BE8D-7BA9E22CF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486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E3441BF-A294-4CCC-856A-30233B1C2403}" type="datetimeFigureOut">
              <a:rPr lang="en-AU" smtClean="0"/>
              <a:t>25/06/2026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E88EED9-E295-4398-BE8D-7BA9E22CFD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843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  <p:sldLayoutId id="2147483947" r:id="rId12"/>
    <p:sldLayoutId id="2147483948" r:id="rId13"/>
    <p:sldLayoutId id="2147483949" r:id="rId14"/>
    <p:sldLayoutId id="2147483950" r:id="rId15"/>
    <p:sldLayoutId id="2147483951" r:id="rId16"/>
    <p:sldLayoutId id="214748395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tm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F5585-FB72-4450-ADFD-1E8E56C865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8640"/>
            <a:ext cx="9144000" cy="1476805"/>
          </a:xfrm>
        </p:spPr>
        <p:txBody>
          <a:bodyPr>
            <a:noAutofit/>
          </a:bodyPr>
          <a:lstStyle/>
          <a:p>
            <a:pPr algn="ctr"/>
            <a:r>
              <a:rPr lang="en-AU" altLang="en-US" sz="4400" b="1" dirty="0">
                <a:ln>
                  <a:noFill/>
                </a:ln>
                <a:cs typeface="Arial" panose="020B0604020202020204" pitchFamily="34" charset="0"/>
              </a:rPr>
              <a:t>Scientific </a:t>
            </a:r>
            <a:r>
              <a:rPr lang="en-AU" altLang="en-US" sz="4400" b="1" dirty="0">
                <a:ln>
                  <a:noFill/>
                </a:ln>
                <a:highlight>
                  <a:srgbClr val="00FF00"/>
                </a:highlight>
                <a:cs typeface="Arial" panose="020B0604020202020204" pitchFamily="34" charset="0"/>
              </a:rPr>
              <a:t>Calculator</a:t>
            </a:r>
            <a:r>
              <a:rPr lang="en-AU" altLang="en-US" sz="4400" b="1" dirty="0">
                <a:ln>
                  <a:noFill/>
                </a:ln>
                <a:cs typeface="Arial" panose="020B0604020202020204" pitchFamily="34" charset="0"/>
              </a:rPr>
              <a:t> Using Python </a:t>
            </a:r>
            <a:r>
              <a:rPr lang="en-AU" altLang="en-US" sz="4400" b="1" dirty="0">
                <a:ln>
                  <a:noFill/>
                </a:ln>
                <a:highlight>
                  <a:srgbClr val="00FF00"/>
                </a:highlight>
                <a:cs typeface="Arial" panose="020B0604020202020204" pitchFamily="34" charset="0"/>
              </a:rPr>
              <a:t>Tkinter</a:t>
            </a:r>
            <a:endParaRPr lang="en-AU" sz="4400" b="1" dirty="0">
              <a:highlight>
                <a:srgbClr val="00FF00"/>
              </a:highlight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B2CC24-3244-E325-1DD0-A8F120312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2086" y="3559276"/>
            <a:ext cx="8675914" cy="1347021"/>
          </a:xfrm>
        </p:spPr>
        <p:txBody>
          <a:bodyPr>
            <a:normAutofit/>
          </a:bodyPr>
          <a:lstStyle/>
          <a:p>
            <a:pPr algn="ctr">
              <a:buClr>
                <a:schemeClr val="accent1">
                  <a:lumMod val="75000"/>
                </a:schemeClr>
              </a:buClr>
              <a:defRPr/>
            </a:pPr>
            <a:r>
              <a:rPr lang="en-AU" sz="3600" i="1" dirty="0"/>
              <a:t>Presented By </a:t>
            </a:r>
            <a:r>
              <a:rPr lang="en-AU" sz="3600" i="1" dirty="0">
                <a:ea typeface="Calibri" panose="020F0502020204030204" pitchFamily="34" charset="0"/>
                <a:cs typeface="Calibri" panose="020F0502020204030204" pitchFamily="34" charset="0"/>
              </a:rPr>
              <a:t>:   Ravalika</a:t>
            </a:r>
            <a:br>
              <a:rPr lang="en-AU" sz="3600" i="1" dirty="0"/>
            </a:br>
            <a:r>
              <a:rPr lang="en-AU" sz="3600" i="1" dirty="0"/>
              <a:t>	       Organization </a:t>
            </a:r>
            <a:r>
              <a:rPr lang="en-AU" sz="3600" i="1" dirty="0">
                <a:ea typeface="Calibri" panose="020F0502020204030204" pitchFamily="34" charset="0"/>
                <a:cs typeface="Calibri" panose="020F0502020204030204" pitchFamily="34" charset="0"/>
              </a:rPr>
              <a:t>:   </a:t>
            </a:r>
            <a:r>
              <a:rPr lang="en-AU" sz="3600" i="1" dirty="0">
                <a:highlight>
                  <a:srgbClr val="00FF00"/>
                </a:highlight>
                <a:ea typeface="Calibri" panose="020F0502020204030204" pitchFamily="34" charset="0"/>
                <a:cs typeface="Calibri" panose="020F0502020204030204" pitchFamily="34" charset="0"/>
              </a:rPr>
              <a:t>NextHikes IT Solutions</a:t>
            </a:r>
          </a:p>
          <a:p>
            <a:pPr>
              <a:buClr>
                <a:schemeClr val="accent1">
                  <a:lumMod val="75000"/>
                </a:schemeClr>
              </a:buClr>
              <a:defRPr/>
            </a:pPr>
            <a:endParaRPr lang="en-AU" sz="3600" i="1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74177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8A234-3E44-334E-6818-77B14378C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3449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Project </a:t>
            </a:r>
            <a:r>
              <a:rPr lang="en-US" sz="4000" b="1" dirty="0">
                <a:highlight>
                  <a:srgbClr val="00FF00"/>
                </a:highlight>
              </a:rPr>
              <a:t>Overview</a:t>
            </a:r>
            <a:endParaRPr lang="en-AU" sz="4000" b="1" dirty="0">
              <a:highlight>
                <a:srgbClr val="00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9EC28-1F4C-74F3-9053-AFD06BE680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i="1" dirty="0">
                <a:highlight>
                  <a:srgbClr val="00FF00"/>
                </a:highlight>
              </a:rPr>
              <a:t>1.</a:t>
            </a:r>
            <a:r>
              <a:rPr lang="en-US" sz="3600" i="1" dirty="0"/>
              <a:t>Objectives: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i="1" dirty="0"/>
              <a:t>Transitioning from basic CLI scripts to high-performance Graphical User Interfaces (GUI). Focusing on enhanced presentation, user interaction, and reusability.  </a:t>
            </a:r>
            <a:endParaRPr lang="en-AU" sz="2000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E007D-6C2C-59F8-CA49-3B2F535A3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338" y="2667000"/>
            <a:ext cx="4895056" cy="3124200"/>
          </a:xfrm>
        </p:spPr>
        <p:txBody>
          <a:bodyPr/>
          <a:lstStyle/>
          <a:p>
            <a:pPr marL="0" indent="0">
              <a:buNone/>
            </a:pPr>
            <a:r>
              <a:rPr lang="en-US" sz="3600" i="1" dirty="0">
                <a:highlight>
                  <a:srgbClr val="00FF00"/>
                </a:highlight>
              </a:rPr>
              <a:t>2.</a:t>
            </a:r>
            <a:r>
              <a:rPr lang="en-US" sz="3600" i="1" dirty="0"/>
              <a:t>Scope: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i="1" dirty="0"/>
              <a:t>Developing a professional-grade scientific calculator with advanced mathematical capabilities, memory functions and interactive history logs.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58112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168FF-8517-8B4F-EBAE-BE92D0118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4225"/>
          </a:xfrm>
        </p:spPr>
        <p:txBody>
          <a:bodyPr>
            <a:normAutofit/>
          </a:bodyPr>
          <a:lstStyle/>
          <a:p>
            <a:r>
              <a:rPr lang="en-US" sz="4000" b="1" dirty="0"/>
              <a:t>TECHNOLOGY </a:t>
            </a:r>
            <a:r>
              <a:rPr lang="en-US" sz="4000" b="1" dirty="0">
                <a:highlight>
                  <a:srgbClr val="00FF00"/>
                </a:highlight>
              </a:rPr>
              <a:t>STACK</a:t>
            </a:r>
            <a:endParaRPr lang="en-AU" sz="4000" b="1" dirty="0">
              <a:highlight>
                <a:srgbClr val="00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89C52-5F95-3773-5798-61320533C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3436" y="1494064"/>
            <a:ext cx="10828564" cy="468289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i="1" dirty="0"/>
              <a:t>	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sz="7600" i="1" dirty="0">
                <a:highlight>
                  <a:srgbClr val="00FF00"/>
                </a:highlight>
              </a:rPr>
              <a:t>Python Core</a:t>
            </a:r>
          </a:p>
          <a:p>
            <a:pPr marL="0" indent="0">
              <a:buNone/>
            </a:pPr>
            <a:r>
              <a:rPr lang="en-US" sz="2400" i="1" dirty="0"/>
              <a:t>		</a:t>
            </a:r>
            <a:r>
              <a:rPr lang="en-US" sz="4200" i="1" dirty="0"/>
              <a:t>The backbone  of the application, managing backend evaluation logic and mathematical parsing</a:t>
            </a:r>
            <a:r>
              <a:rPr lang="en-US" sz="4200" dirty="0"/>
              <a:t>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7600" i="1" dirty="0">
                <a:highlight>
                  <a:srgbClr val="00FF00"/>
                </a:highlight>
              </a:rPr>
              <a:t>Tkinter GUI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4200" i="1" dirty="0"/>
              <a:t>The primary toolkit used to build the responsive and interactive scientific interface</a:t>
            </a:r>
            <a:r>
              <a:rPr lang="en-US" sz="42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7600" i="1" dirty="0">
                <a:highlight>
                  <a:srgbClr val="00FF00"/>
                </a:highlight>
              </a:rPr>
              <a:t>VS Code &amp; Git</a:t>
            </a:r>
            <a:endParaRPr lang="en-US" sz="7600" i="1" dirty="0"/>
          </a:p>
          <a:p>
            <a:pPr marL="0" indent="0">
              <a:buNone/>
            </a:pPr>
            <a:r>
              <a:rPr lang="en-US" sz="2600" i="1" dirty="0"/>
              <a:t>	</a:t>
            </a:r>
            <a:r>
              <a:rPr lang="en-US" sz="4200" i="1" dirty="0"/>
              <a:t>Professional development environment with GitHub Integration for version control</a:t>
            </a:r>
            <a:r>
              <a:rPr lang="en-US" sz="2900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A6B114-2657-6130-BC72-0E18755BB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54" r="15001" b="-4000"/>
          <a:stretch>
            <a:fillRect/>
          </a:stretch>
        </p:blipFill>
        <p:spPr>
          <a:xfrm>
            <a:off x="3819779" y="1755198"/>
            <a:ext cx="426427" cy="5944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EC07C1-76A2-52FE-52DD-9C3BAC504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5" r="-1" b="-5033"/>
          <a:stretch>
            <a:fillRect/>
          </a:stretch>
        </p:blipFill>
        <p:spPr>
          <a:xfrm>
            <a:off x="3694922" y="3205155"/>
            <a:ext cx="504242" cy="7043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A7A66D6-D625-73E0-159B-1AA22E4E5E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68"/>
          <a:stretch>
            <a:fillRect/>
          </a:stretch>
        </p:blipFill>
        <p:spPr>
          <a:xfrm>
            <a:off x="4073970" y="4538520"/>
            <a:ext cx="637989" cy="5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68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DF694-FECF-C601-2EE6-FF57862D3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214" y="261257"/>
            <a:ext cx="8986157" cy="1071155"/>
          </a:xfrm>
        </p:spPr>
        <p:txBody>
          <a:bodyPr>
            <a:normAutofit/>
          </a:bodyPr>
          <a:lstStyle/>
          <a:p>
            <a:r>
              <a:rPr lang="en-US" sz="4000" b="1" dirty="0"/>
              <a:t>High-Performance </a:t>
            </a:r>
            <a:r>
              <a:rPr lang="en-US" sz="4000" b="1" dirty="0">
                <a:highlight>
                  <a:srgbClr val="00FF00"/>
                </a:highlight>
              </a:rPr>
              <a:t>Features</a:t>
            </a:r>
            <a:endParaRPr lang="en-AU" sz="4000" b="1" dirty="0">
              <a:highlight>
                <a:srgbClr val="00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4350F-44B7-1243-CB80-F5376FDC6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0586" y="1332412"/>
            <a:ext cx="10771414" cy="482005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i="1" dirty="0"/>
          </a:p>
          <a:p>
            <a:pPr>
              <a:buClr>
                <a:schemeClr val="tx1"/>
              </a:buClr>
              <a:buSzPct val="135000"/>
              <a:buFont typeface="Arial" panose="020B0604020202020204" pitchFamily="34" charset="0"/>
              <a:buChar char="•"/>
            </a:pPr>
            <a:r>
              <a:rPr lang="en-US" sz="3600" i="1" dirty="0"/>
              <a:t>Advanced </a:t>
            </a:r>
            <a:r>
              <a:rPr lang="en-US" sz="3600" i="1" dirty="0">
                <a:highlight>
                  <a:srgbClr val="00FF00"/>
                </a:highlight>
              </a:rPr>
              <a:t>Math</a:t>
            </a:r>
          </a:p>
          <a:p>
            <a:pPr marL="0" indent="0">
              <a:buNone/>
            </a:pPr>
            <a:r>
              <a:rPr lang="en-AU" dirty="0"/>
              <a:t>	</a:t>
            </a:r>
            <a:r>
              <a:rPr lang="en-AU" sz="2000" i="1" dirty="0"/>
              <a:t>Support for Trigonometry, Logarithms, Power  functions and Degree/Radian mode toggles</a:t>
            </a:r>
            <a:r>
              <a:rPr lang="en-AU" sz="2200" i="1" dirty="0"/>
              <a:t>.</a:t>
            </a:r>
          </a:p>
          <a:p>
            <a:pPr>
              <a:buClr>
                <a:schemeClr val="tx1"/>
              </a:buClr>
              <a:buSzPct val="135000"/>
              <a:buFont typeface="Arial" panose="020B0604020202020204" pitchFamily="34" charset="0"/>
              <a:buChar char="•"/>
            </a:pPr>
            <a:r>
              <a:rPr lang="en-AU" sz="3600" i="1" dirty="0"/>
              <a:t>Memory </a:t>
            </a:r>
            <a:r>
              <a:rPr lang="en-AU" sz="3600" i="1" dirty="0">
                <a:highlight>
                  <a:srgbClr val="00FF00"/>
                </a:highlight>
              </a:rPr>
              <a:t>Engine</a:t>
            </a:r>
          </a:p>
          <a:p>
            <a:pPr marL="0" indent="0">
              <a:buNone/>
            </a:pPr>
            <a:r>
              <a:rPr lang="en-AU" dirty="0"/>
              <a:t>	</a:t>
            </a:r>
            <a:r>
              <a:rPr lang="en-AU" sz="2000" dirty="0"/>
              <a:t>Full memory integration including Store (M+), Subtract (M-), Recall (MR) and Clear (MC).</a:t>
            </a:r>
          </a:p>
          <a:p>
            <a:pPr>
              <a:buClr>
                <a:schemeClr val="tx1"/>
              </a:buClr>
              <a:buSzPct val="135000"/>
              <a:buFont typeface="Arial" panose="020B0604020202020204" pitchFamily="34" charset="0"/>
              <a:buChar char="•"/>
            </a:pPr>
            <a:r>
              <a:rPr lang="en-AU" sz="3600" i="1" dirty="0"/>
              <a:t>Live </a:t>
            </a:r>
            <a:r>
              <a:rPr lang="en-AU" sz="3600" i="1" dirty="0">
                <a:highlight>
                  <a:srgbClr val="00FF00"/>
                </a:highlight>
              </a:rPr>
              <a:t>History</a:t>
            </a:r>
          </a:p>
          <a:p>
            <a:pPr marL="0" indent="0">
              <a:buNone/>
            </a:pPr>
            <a:r>
              <a:rPr lang="en-AU" dirty="0"/>
              <a:t>	</a:t>
            </a:r>
            <a:r>
              <a:rPr lang="en-AU" sz="2000" i="1" dirty="0"/>
              <a:t>A separate history window to track all previous computations with instant detail recall.</a:t>
            </a:r>
          </a:p>
          <a:p>
            <a:pPr>
              <a:buFont typeface="Arial" panose="020B0604020202020204" pitchFamily="34" charset="0"/>
              <a:buChar char="•"/>
            </a:pPr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BF895F-D76B-4871-10AA-73D2234A2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52" t="11982" r="27638" b="9929"/>
          <a:stretch>
            <a:fillRect/>
          </a:stretch>
        </p:blipFill>
        <p:spPr>
          <a:xfrm>
            <a:off x="4861249" y="1729998"/>
            <a:ext cx="391886" cy="6096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A9D4A1-C7B2-BC11-7A82-6A6ED2D99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" t="18457" r="15932" b="18805"/>
          <a:stretch>
            <a:fillRect/>
          </a:stretch>
        </p:blipFill>
        <p:spPr>
          <a:xfrm>
            <a:off x="4666963" y="3046516"/>
            <a:ext cx="670618" cy="3824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6E1CE2-C21B-BB7A-175E-A9855CCD4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7" t="3160" r="22509" b="14288"/>
          <a:stretch>
            <a:fillRect/>
          </a:stretch>
        </p:blipFill>
        <p:spPr>
          <a:xfrm>
            <a:off x="4052922" y="4348066"/>
            <a:ext cx="463094" cy="48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49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C1151-E364-F1F8-114B-B206CCB0A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5707" y="-187779"/>
            <a:ext cx="11544300" cy="1176791"/>
          </a:xfrm>
        </p:spPr>
        <p:txBody>
          <a:bodyPr>
            <a:normAutofit/>
          </a:bodyPr>
          <a:lstStyle/>
          <a:p>
            <a:r>
              <a:rPr lang="en-US" sz="4000" b="1" i="1" dirty="0"/>
              <a:t>Advanced </a:t>
            </a:r>
            <a:r>
              <a:rPr lang="en-US" sz="4000" b="1" i="1" dirty="0">
                <a:highlight>
                  <a:srgbClr val="00FF00"/>
                </a:highlight>
              </a:rPr>
              <a:t>UI</a:t>
            </a:r>
            <a:r>
              <a:rPr lang="en-US" sz="4000" b="1" i="1" dirty="0"/>
              <a:t> Design</a:t>
            </a:r>
            <a:endParaRPr lang="en-AU" sz="4000" b="1" i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9D191-328E-3EC9-887D-DECB7B090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35818" y="1236617"/>
            <a:ext cx="10856181" cy="4632371"/>
          </a:xfrm>
        </p:spPr>
        <p:txBody>
          <a:bodyPr>
            <a:normAutofit/>
          </a:bodyPr>
          <a:lstStyle/>
          <a:p>
            <a:pPr algn="l"/>
            <a:r>
              <a:rPr lang="en-US" sz="3600" i="1" dirty="0"/>
              <a:t>Modern Theme:</a:t>
            </a:r>
          </a:p>
          <a:p>
            <a:pPr algn="l"/>
            <a:r>
              <a:rPr lang="en-US" sz="3600" i="1" dirty="0"/>
              <a:t>		</a:t>
            </a:r>
            <a:r>
              <a:rPr lang="en-US" sz="2000" i="1" dirty="0"/>
              <a:t>High-contrast dark mode with#121212 background.</a:t>
            </a:r>
          </a:p>
          <a:p>
            <a:pPr algn="l"/>
            <a:r>
              <a:rPr lang="en-US" sz="3600" i="1" dirty="0"/>
              <a:t>Grid Layout: </a:t>
            </a:r>
          </a:p>
          <a:p>
            <a:pPr algn="l"/>
            <a:r>
              <a:rPr lang="en-US" sz="3600" i="1" dirty="0"/>
              <a:t>		</a:t>
            </a:r>
            <a:r>
              <a:rPr lang="en-US" sz="2000" i="1" dirty="0"/>
              <a:t>Precise 7-column layout for scientific operations.</a:t>
            </a:r>
          </a:p>
          <a:p>
            <a:pPr algn="l"/>
            <a:r>
              <a:rPr lang="en-US" sz="3600" dirty="0"/>
              <a:t>UX Features: </a:t>
            </a:r>
          </a:p>
          <a:p>
            <a:pPr algn="l"/>
            <a:r>
              <a:rPr lang="en-US" sz="3600" i="1" dirty="0"/>
              <a:t>		</a:t>
            </a:r>
            <a:r>
              <a:rPr lang="en-US" sz="2000" i="1" dirty="0"/>
              <a:t>Dynamic hover effects,  tooltips  and real-time history tracking.  </a:t>
            </a:r>
            <a:endParaRPr lang="en-AU" sz="2000" i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F664A2-5AE8-4786-6B4D-2854544EFB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159337" y="7083076"/>
            <a:ext cx="9022862" cy="33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04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EE44D8-79A0-D806-F87B-DAA3FF675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806" y="137726"/>
            <a:ext cx="7041490" cy="60736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5FB263-2ABB-5F2B-676C-BBC78E208F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415" y="1195044"/>
            <a:ext cx="3132091" cy="313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493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D9E9F-A680-981A-C3CC-848F7864B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6720" y="0"/>
            <a:ext cx="5731330" cy="791936"/>
          </a:xfrm>
        </p:spPr>
        <p:txBody>
          <a:bodyPr>
            <a:noAutofit/>
          </a:bodyPr>
          <a:lstStyle/>
          <a:p>
            <a:r>
              <a:rPr lang="en-US" sz="4000" b="1" dirty="0"/>
              <a:t>Computational </a:t>
            </a:r>
            <a:r>
              <a:rPr lang="en-US" sz="4000" b="1" dirty="0">
                <a:highlight>
                  <a:srgbClr val="00FF00"/>
                </a:highlight>
              </a:rPr>
              <a:t>Logic</a:t>
            </a:r>
            <a:endParaRPr lang="en-AU" sz="4000" b="1" dirty="0">
              <a:highlight>
                <a:srgbClr val="00FF00"/>
              </a:highlight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94AAC-056F-173E-8882-8B552D435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6245" y="1225707"/>
            <a:ext cx="4921897" cy="4464800"/>
          </a:xfrm>
        </p:spPr>
        <p:txBody>
          <a:bodyPr>
            <a:normAutofit/>
          </a:bodyPr>
          <a:lstStyle/>
          <a:p>
            <a:pPr algn="l"/>
            <a:r>
              <a:rPr lang="en-US" sz="2000" i="1" dirty="0"/>
              <a:t>The backend utilizes python’s math module and string parsing to handle complex nested operations:</a:t>
            </a:r>
          </a:p>
          <a:p>
            <a:pPr marL="342900" indent="-342900" algn="l">
              <a:buClr>
                <a:schemeClr val="tx1"/>
              </a:buClr>
              <a:buSzPct val="135000"/>
              <a:buFont typeface="Arial" panose="020B0604020202020204" pitchFamily="34" charset="0"/>
              <a:buChar char="•"/>
            </a:pPr>
            <a:r>
              <a:rPr lang="en-US" sz="2000" b="1" i="1" dirty="0"/>
              <a:t>Trigonometry</a:t>
            </a:r>
            <a:r>
              <a:rPr lang="en-US" sz="2000" i="1" dirty="0"/>
              <a:t>(Sin, Cos, Tan) with Degree/Radian modes.</a:t>
            </a:r>
          </a:p>
          <a:p>
            <a:pPr marL="342900" indent="-342900" algn="l">
              <a:buClr>
                <a:schemeClr val="tx1"/>
              </a:buClr>
              <a:buSzPct val="135000"/>
              <a:buFont typeface="Arial" panose="020B0604020202020204" pitchFamily="34" charset="0"/>
              <a:buChar char="•"/>
            </a:pPr>
            <a:r>
              <a:rPr lang="en-US" sz="2000" b="1" i="1" dirty="0"/>
              <a:t>Advanced Calculus: </a:t>
            </a:r>
            <a:r>
              <a:rPr lang="en-US" sz="2000" i="1" dirty="0"/>
              <a:t>Sqrt, Log10, Ln and 		Factorials.</a:t>
            </a:r>
          </a:p>
          <a:p>
            <a:pPr marL="342900" indent="-342900" algn="l">
              <a:buClr>
                <a:schemeClr val="tx1"/>
              </a:buClr>
              <a:buSzPct val="135000"/>
              <a:buFont typeface="Arial" panose="020B0604020202020204" pitchFamily="34" charset="0"/>
              <a:buChar char="•"/>
            </a:pPr>
            <a:r>
              <a:rPr lang="en-US" sz="2000" b="1" i="1" dirty="0"/>
              <a:t>Exception Handling: </a:t>
            </a:r>
            <a:r>
              <a:rPr lang="en-US" sz="2000" i="1" dirty="0"/>
              <a:t>Robust error-		catching for illegal operations.</a:t>
            </a:r>
          </a:p>
          <a:p>
            <a:pPr marL="342900" indent="-342900" algn="l">
              <a:buClr>
                <a:schemeClr val="tx1"/>
              </a:buClr>
              <a:buSzPct val="135000"/>
              <a:buFont typeface="Arial" panose="020B0604020202020204" pitchFamily="34" charset="0"/>
              <a:buChar char="•"/>
            </a:pPr>
            <a:r>
              <a:rPr lang="en-US" sz="2000" b="1" i="1" dirty="0"/>
              <a:t>Dual  interaction: </a:t>
            </a:r>
            <a:r>
              <a:rPr lang="en-US" sz="2000" i="1" dirty="0"/>
              <a:t>Virtual buttons and Keyboard bindings.</a:t>
            </a:r>
            <a:endParaRPr lang="en-AU" sz="2000" i="1" dirty="0"/>
          </a:p>
        </p:txBody>
      </p:sp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D13F1374-4AC0-849C-198A-C5C243183F9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71" r="19171"/>
          <a:stretch>
            <a:fillRect/>
          </a:stretch>
        </p:blipFill>
        <p:spPr>
          <a:xfrm>
            <a:off x="6596743" y="693964"/>
            <a:ext cx="5595257" cy="5470072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rgbClr val="CDD0D1"/>
                </a:gs>
                <a:gs pos="100000">
                  <a:srgbClr val="CDD0D1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830151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B114C-D6AC-8DF7-F2F8-45E5BEFA0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5002005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THANK </a:t>
            </a:r>
            <a:r>
              <a:rPr lang="en-US" dirty="0">
                <a:highlight>
                  <a:srgbClr val="00FF00"/>
                </a:highlight>
                <a:latin typeface="Algerian" panose="04020705040A02060702" pitchFamily="82" charset="0"/>
              </a:rPr>
              <a:t>YOU</a:t>
            </a:r>
            <a:endParaRPr lang="en-AU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919936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3034</TotalTime>
  <Words>291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Algerian</vt:lpstr>
      <vt:lpstr>Arial</vt:lpstr>
      <vt:lpstr>Calibri</vt:lpstr>
      <vt:lpstr>Corbel</vt:lpstr>
      <vt:lpstr>Parallax</vt:lpstr>
      <vt:lpstr>Scientific Calculator Using Python Tkinter</vt:lpstr>
      <vt:lpstr>Project Overview</vt:lpstr>
      <vt:lpstr>TECHNOLOGY STACK</vt:lpstr>
      <vt:lpstr>High-Performance Features</vt:lpstr>
      <vt:lpstr>Advanced UI Design</vt:lpstr>
      <vt:lpstr>PowerPoint Presentation</vt:lpstr>
      <vt:lpstr>Computational Logic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Ravalika Vellidandla</dc:creator>
  <cp:lastModifiedBy>Ravalika Vellidandla</cp:lastModifiedBy>
  <cp:revision>33</cp:revision>
  <dcterms:created xsi:type="dcterms:W3CDTF">2026-06-22T16:16:18Z</dcterms:created>
  <dcterms:modified xsi:type="dcterms:W3CDTF">2026-06-24T19:52:13Z</dcterms:modified>
</cp:coreProperties>
</file>